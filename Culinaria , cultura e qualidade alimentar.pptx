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E16E6-CB77-41FD-BE51-619F526646A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6ADB23-3693-41F7-9CE7-4C6D7F74332A}">
      <dgm:prSet/>
      <dgm:spPr/>
      <dgm:t>
        <a:bodyPr/>
        <a:lstStyle/>
        <a:p>
          <a:pPr algn="l"/>
          <a:r>
            <a:rPr lang="en-US" b="1" dirty="0" err="1"/>
            <a:t>Tacacá</a:t>
          </a:r>
          <a:r>
            <a:rPr lang="en-US" b="1" dirty="0"/>
            <a:t>: </a:t>
          </a:r>
          <a:r>
            <a:rPr lang="en-US" dirty="0" err="1"/>
            <a:t>uma</a:t>
          </a:r>
          <a:r>
            <a:rPr lang="en-US" dirty="0"/>
            <a:t> </a:t>
          </a:r>
          <a:r>
            <a:rPr lang="en-US" dirty="0" err="1"/>
            <a:t>mistura</a:t>
          </a:r>
          <a:r>
            <a:rPr lang="en-US" dirty="0"/>
            <a:t> de </a:t>
          </a:r>
          <a:r>
            <a:rPr lang="en-US" dirty="0" err="1"/>
            <a:t>itens</a:t>
          </a:r>
          <a:r>
            <a:rPr lang="en-US" dirty="0"/>
            <a:t> </a:t>
          </a:r>
          <a:r>
            <a:rPr lang="en-US" dirty="0" err="1"/>
            <a:t>intensos</a:t>
          </a:r>
          <a:r>
            <a:rPr lang="en-US" dirty="0"/>
            <a:t>, </a:t>
          </a:r>
          <a:r>
            <a:rPr lang="en-US" dirty="0" err="1"/>
            <a:t>como</a:t>
          </a:r>
          <a:r>
            <a:rPr lang="en-US" dirty="0"/>
            <a:t>: tapioca, </a:t>
          </a:r>
          <a:r>
            <a:rPr lang="en-US" dirty="0" err="1"/>
            <a:t>camarão</a:t>
          </a:r>
          <a:r>
            <a:rPr lang="en-US" dirty="0"/>
            <a:t>, </a:t>
          </a:r>
          <a:r>
            <a:rPr lang="en-US" dirty="0" err="1"/>
            <a:t>pimenta</a:t>
          </a:r>
          <a:r>
            <a:rPr lang="en-US" dirty="0"/>
            <a:t>, </a:t>
          </a:r>
          <a:r>
            <a:rPr lang="en-US" dirty="0" err="1"/>
            <a:t>jambu</a:t>
          </a:r>
          <a:r>
            <a:rPr lang="en-US" dirty="0"/>
            <a:t>, etc.</a:t>
          </a:r>
        </a:p>
      </dgm:t>
    </dgm:pt>
    <dgm:pt modelId="{421AF459-3621-48AB-8E84-18849572640D}" type="parTrans" cxnId="{F43259E1-06E8-406E-BE0B-0522CDFDD214}">
      <dgm:prSet/>
      <dgm:spPr/>
      <dgm:t>
        <a:bodyPr/>
        <a:lstStyle/>
        <a:p>
          <a:endParaRPr lang="en-US"/>
        </a:p>
      </dgm:t>
    </dgm:pt>
    <dgm:pt modelId="{D53C5527-B869-405D-B199-9AC6846BCB28}" type="sibTrans" cxnId="{F43259E1-06E8-406E-BE0B-0522CDFDD214}">
      <dgm:prSet/>
      <dgm:spPr/>
      <dgm:t>
        <a:bodyPr/>
        <a:lstStyle/>
        <a:p>
          <a:endParaRPr lang="en-US"/>
        </a:p>
      </dgm:t>
    </dgm:pt>
    <dgm:pt modelId="{42CAC557-FB80-4B79-AAD9-47A690FE7972}" type="pres">
      <dgm:prSet presAssocID="{DE9E16E6-CB77-41FD-BE51-619F526646AB}" presName="linear" presStyleCnt="0">
        <dgm:presLayoutVars>
          <dgm:animLvl val="lvl"/>
          <dgm:resizeHandles val="exact"/>
        </dgm:presLayoutVars>
      </dgm:prSet>
      <dgm:spPr/>
    </dgm:pt>
    <dgm:pt modelId="{C270A292-8E71-46B4-8AEB-17A8F01FE75A}" type="pres">
      <dgm:prSet presAssocID="{C66ADB23-3693-41F7-9CE7-4C6D7F74332A}" presName="parentText" presStyleLbl="node1" presStyleIdx="0" presStyleCnt="1" custLinFactX="11002" custLinFactY="-40697" custLinFactNeighborX="100000" custLinFactNeighborY="-100000">
        <dgm:presLayoutVars>
          <dgm:chMax val="0"/>
          <dgm:bulletEnabled val="1"/>
        </dgm:presLayoutVars>
      </dgm:prSet>
      <dgm:spPr/>
    </dgm:pt>
  </dgm:ptLst>
  <dgm:cxnLst>
    <dgm:cxn modelId="{074A86C6-69A8-4CEA-B9AC-20CF6C725627}" type="presOf" srcId="{DE9E16E6-CB77-41FD-BE51-619F526646AB}" destId="{42CAC557-FB80-4B79-AAD9-47A690FE7972}" srcOrd="0" destOrd="0" presId="urn:microsoft.com/office/officeart/2005/8/layout/vList2"/>
    <dgm:cxn modelId="{AA1921CE-B976-45DD-8CAA-C197D3EE2DFE}" type="presOf" srcId="{C66ADB23-3693-41F7-9CE7-4C6D7F74332A}" destId="{C270A292-8E71-46B4-8AEB-17A8F01FE75A}" srcOrd="0" destOrd="0" presId="urn:microsoft.com/office/officeart/2005/8/layout/vList2"/>
    <dgm:cxn modelId="{F43259E1-06E8-406E-BE0B-0522CDFDD214}" srcId="{DE9E16E6-CB77-41FD-BE51-619F526646AB}" destId="{C66ADB23-3693-41F7-9CE7-4C6D7F74332A}" srcOrd="0" destOrd="0" parTransId="{421AF459-3621-48AB-8E84-18849572640D}" sibTransId="{D53C5527-B869-405D-B199-9AC6846BCB28}"/>
    <dgm:cxn modelId="{958082EA-FECD-4CC9-B6AB-F92635771430}" type="presParOf" srcId="{42CAC557-FB80-4B79-AAD9-47A690FE7972}" destId="{C270A292-8E71-46B4-8AEB-17A8F01FE75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0A292-8E71-46B4-8AEB-17A8F01FE75A}">
      <dsp:nvSpPr>
        <dsp:cNvPr id="0" name=""/>
        <dsp:cNvSpPr/>
      </dsp:nvSpPr>
      <dsp:spPr>
        <a:xfrm>
          <a:off x="0" y="0"/>
          <a:ext cx="5157546" cy="164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 err="1"/>
            <a:t>Tacacá</a:t>
          </a:r>
          <a:r>
            <a:rPr lang="en-US" sz="3000" b="1" kern="1200" dirty="0"/>
            <a:t>: </a:t>
          </a:r>
          <a:r>
            <a:rPr lang="en-US" sz="3000" kern="1200" dirty="0" err="1"/>
            <a:t>uma</a:t>
          </a:r>
          <a:r>
            <a:rPr lang="en-US" sz="3000" kern="1200" dirty="0"/>
            <a:t> </a:t>
          </a:r>
          <a:r>
            <a:rPr lang="en-US" sz="3000" kern="1200" dirty="0" err="1"/>
            <a:t>mistura</a:t>
          </a:r>
          <a:r>
            <a:rPr lang="en-US" sz="3000" kern="1200" dirty="0"/>
            <a:t> de </a:t>
          </a:r>
          <a:r>
            <a:rPr lang="en-US" sz="3000" kern="1200" dirty="0" err="1"/>
            <a:t>itens</a:t>
          </a:r>
          <a:r>
            <a:rPr lang="en-US" sz="3000" kern="1200" dirty="0"/>
            <a:t> </a:t>
          </a:r>
          <a:r>
            <a:rPr lang="en-US" sz="3000" kern="1200" dirty="0" err="1"/>
            <a:t>intensos</a:t>
          </a:r>
          <a:r>
            <a:rPr lang="en-US" sz="3000" kern="1200" dirty="0"/>
            <a:t>, </a:t>
          </a:r>
          <a:r>
            <a:rPr lang="en-US" sz="3000" kern="1200" dirty="0" err="1"/>
            <a:t>como</a:t>
          </a:r>
          <a:r>
            <a:rPr lang="en-US" sz="3000" kern="1200" dirty="0"/>
            <a:t>: tapioca, </a:t>
          </a:r>
          <a:r>
            <a:rPr lang="en-US" sz="3000" kern="1200" dirty="0" err="1"/>
            <a:t>camarão</a:t>
          </a:r>
          <a:r>
            <a:rPr lang="en-US" sz="3000" kern="1200" dirty="0"/>
            <a:t>, </a:t>
          </a:r>
          <a:r>
            <a:rPr lang="en-US" sz="3000" kern="1200" dirty="0" err="1"/>
            <a:t>pimenta</a:t>
          </a:r>
          <a:r>
            <a:rPr lang="en-US" sz="3000" kern="1200" dirty="0"/>
            <a:t>, </a:t>
          </a:r>
          <a:r>
            <a:rPr lang="en-US" sz="3000" kern="1200" dirty="0" err="1"/>
            <a:t>jambu</a:t>
          </a:r>
          <a:r>
            <a:rPr lang="en-US" sz="3000" kern="1200" dirty="0"/>
            <a:t>, etc.</a:t>
          </a:r>
        </a:p>
      </dsp:txBody>
      <dsp:txXfrm>
        <a:off x="80532" y="80532"/>
        <a:ext cx="4996482" cy="148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3A10A2-E8C9-4CC5-8F47-A34A19DBD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BE55A1-38B5-45CA-95E4-AC6AD53A5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9FF354-7B76-4A31-8BEF-3D795E963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170FA8-07DE-4B85-B174-E362E4D3B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96867D-6C98-4A73-9030-361F89CC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721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81AAE6-7F36-4BD0-B7DA-79E15493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DE3704-5090-4BD5-9ED4-09DF0B2A2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B79A7C-C7EC-4649-A0DD-FB17C04B1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7C09DA-3F09-412F-BA74-D1065CBF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AB80B0-20EC-410D-8B12-2673680E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4452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9B808-FADA-4FFB-A339-0233204F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5EAB06-DED7-46BB-8B43-E3EAA0294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C6A8D9-BC5C-4BFE-8D61-4F2D17F42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EF8A13-078D-4C2B-8EB5-0A5D5F73E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7C1482-0418-4E36-9E26-2DBA29DEC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800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1F2EF9-A465-47B2-B1FE-D24E5614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71A3C3-7281-4DCF-8A59-B5CB50FEF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008AB3-09AF-49CF-BBFF-0A3FD677B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114CF9-A745-42AD-8E27-EC5A0900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0F41E7-64DE-4B01-BA51-739F80E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F87124-FBBE-48B5-BA03-FA60D093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247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28C205-9635-4AB6-992E-50A7964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1EA722-F65F-4C22-A68F-C79B84027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45E969-252C-46C6-A546-D5486409A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3DDA0B-8D8E-40F2-A4AE-3DD762A9F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FDBD6E-3FE2-462D-BBC1-AC8D83EB8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2677D6D-C855-4DA0-AA91-4A38D506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B38CB7-7B82-4325-A8A6-75E452313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10F0898-0A1A-4480-8F28-51F51678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6862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D2923-A324-4C48-9F10-F68D38631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971F7B-AA55-4D19-A8C1-AE54AECDF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4763515-4F47-4667-B219-17FD2FBE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D88769-6936-4D4E-BA36-2E2100DA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7806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48EEDC-DCA3-4C66-8FEF-09444889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C4EC6A-67F4-4389-84DE-0DDEE687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E11E80-77AF-4503-9ED2-FA78ED4B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24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22BA8-86D2-4300-80EF-1A0159F2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40900-C691-4D79-B571-720515C2A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1798F2-4457-4D01-912B-91F40A8B8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C247F1-8E1E-4F9C-8B02-E5EDFBA0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96B766-DCC2-4BEE-9A71-ECF66231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D1FA72-02D4-40F3-A105-BF1C672E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29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8BFB3-6CD0-46F3-BA04-CCB54EB6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E6704D2-5035-488B-B6DC-C3A2B23D4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3BA327-ECF2-4461-B197-18DEEE5D5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AEB97F-737C-44BA-85E8-A2B074D18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04E72C-F008-41C4-A493-0B05D161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5078C1-CBCA-4B18-A13C-A92DB48E6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8522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217616-2CE2-43F8-BFC1-7B86AE2A2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A8CA14-DD86-40CF-BB1A-598344070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0F4043-930D-4E01-981B-60585324E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B303F6-6B63-4E5D-8BE8-9C0DF5ED9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FA1E7B-4E24-4042-8433-31D4596F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2454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694F12E-935C-4B1E-A34E-9EA88BE3C9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CA7F3E-12CD-4048-86E6-0F15EC23D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4D0FD4-D684-4D23-B733-F13592FB3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BEA7BB-543D-4D5B-9018-2F2FE301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29E35D-AE3E-41B3-9CD3-260D077B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47255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A65570-D706-4DA4-80F3-36B08475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7FB708-ECB4-415F-A54F-B67EAAAA0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563C80-B252-4CD8-A496-E694E04A3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4/15/2022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351B4F-415A-429A-BDB0-5AAA15438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01FA10-81C8-4A26-9C27-CB01D8E84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17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stadosauipe.com.br/blog/a-comida-tipica-do-nordeste-vai-te-conquistar-conheca-5-pratos-tradicionais" TargetMode="External"/><Relationship Id="rId2" Type="http://schemas.openxmlformats.org/officeDocument/2006/relationships/hyperlink" Target="https://todepassagem.clickbus.com.br/turismo/sabores-do-brasil/comidas-tipicas-do-norte-do-brasi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iajala.com.br/blog/pratos-t&#237;picos-do-sudeste-brasileiro" TargetMode="External"/><Relationship Id="rId5" Type="http://schemas.openxmlformats.org/officeDocument/2006/relationships/hyperlink" Target="https://malaprontagramado.com.br/comidas-tipicas-da-regiao-sul/" TargetMode="External"/><Relationship Id="rId4" Type="http://schemas.openxmlformats.org/officeDocument/2006/relationships/hyperlink" Target="https://ibis.accor.com/pt-br/editorial/article/comidas-tipicas-centro-oeste-5-7942-v5914.s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ulinária afetiva: minhas experiências gastronômicas pelo mundo">
            <a:extLst>
              <a:ext uri="{FF2B5EF4-FFF2-40B4-BE49-F238E27FC236}">
                <a16:creationId xmlns:a16="http://schemas.microsoft.com/office/drawing/2014/main" id="{41189E83-A5D3-4ED7-8212-1A3E8F978C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7"/>
          <a:stretch/>
        </p:blipFill>
        <p:spPr bwMode="auto">
          <a:xfrm>
            <a:off x="20" y="11"/>
            <a:ext cx="12191979" cy="6857989"/>
          </a:xfrm>
          <a:prstGeom prst="rect">
            <a:avLst/>
          </a:prstGeom>
          <a:noFill/>
          <a:effectLst>
            <a:glow>
              <a:schemeClr val="accent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33F5B17-6EF9-4227-85DB-F486F0428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740211"/>
            <a:ext cx="7530685" cy="3163864"/>
          </a:xfrm>
        </p:spPr>
        <p:txBody>
          <a:bodyPr>
            <a:normAutofit/>
          </a:bodyPr>
          <a:lstStyle/>
          <a:p>
            <a:pPr algn="l"/>
            <a:r>
              <a:rPr lang="en-US" sz="5200" dirty="0" err="1">
                <a:solidFill>
                  <a:srgbClr val="FFFFFF"/>
                </a:solidFill>
                <a:latin typeface="Montserrat ExtraBold" pitchFamily="2" charset="0"/>
              </a:rPr>
              <a:t>Culinaria</a:t>
            </a:r>
            <a:r>
              <a:rPr lang="en-US" sz="5200" dirty="0">
                <a:solidFill>
                  <a:srgbClr val="FFFFFF"/>
                </a:solidFill>
                <a:latin typeface="Montserrat ExtraBold" pitchFamily="2" charset="0"/>
              </a:rPr>
              <a:t> , </a:t>
            </a:r>
            <a:r>
              <a:rPr lang="en-US" sz="5200" dirty="0" err="1">
                <a:solidFill>
                  <a:srgbClr val="FFFFFF"/>
                </a:solidFill>
                <a:latin typeface="Montserrat ExtraBold" pitchFamily="2" charset="0"/>
              </a:rPr>
              <a:t>cultura</a:t>
            </a:r>
            <a:r>
              <a:rPr lang="en-US" sz="5200" dirty="0">
                <a:solidFill>
                  <a:srgbClr val="FFFFFF"/>
                </a:solidFill>
                <a:latin typeface="Montserrat ExtraBold" pitchFamily="2" charset="0"/>
              </a:rPr>
              <a:t> e </a:t>
            </a:r>
            <a:r>
              <a:rPr lang="en-US" sz="5200" dirty="0" err="1">
                <a:solidFill>
                  <a:srgbClr val="FFFFFF"/>
                </a:solidFill>
                <a:latin typeface="Montserrat ExtraBold" pitchFamily="2" charset="0"/>
              </a:rPr>
              <a:t>qualidade</a:t>
            </a:r>
            <a:r>
              <a:rPr lang="en-US" sz="5200" dirty="0">
                <a:solidFill>
                  <a:srgbClr val="FFFFFF"/>
                </a:solidFill>
                <a:latin typeface="Montserrat ExtraBold" pitchFamily="2" charset="0"/>
              </a:rPr>
              <a:t> </a:t>
            </a:r>
            <a:r>
              <a:rPr lang="en-US" sz="5200" dirty="0" err="1">
                <a:solidFill>
                  <a:srgbClr val="FFFFFF"/>
                </a:solidFill>
                <a:latin typeface="Montserrat ExtraBold" pitchFamily="2" charset="0"/>
              </a:rPr>
              <a:t>alimentar</a:t>
            </a:r>
            <a:endParaRPr lang="en-US" sz="5200" dirty="0">
              <a:solidFill>
                <a:srgbClr val="FFFFFF"/>
              </a:solidFill>
              <a:latin typeface="Montserrat ExtraBold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95C750-8F20-4163-91D4-1AA17DDF3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074515"/>
            <a:ext cx="7583133" cy="1279124"/>
          </a:xfrm>
        </p:spPr>
        <p:txBody>
          <a:bodyPr>
            <a:norm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Arthur, </a:t>
            </a:r>
            <a:r>
              <a:rPr lang="en-US" sz="1350" dirty="0" err="1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Kauê</a:t>
            </a:r>
            <a:r>
              <a:rPr lang="en-US" sz="135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 Luiz </a:t>
            </a:r>
            <a:r>
              <a:rPr lang="en-US" sz="1350" dirty="0" err="1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Otávio</a:t>
            </a:r>
            <a:r>
              <a:rPr lang="en-US" sz="135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 Matheus. – 1</a:t>
            </a:r>
            <a:r>
              <a:rPr lang="en-US" sz="1350" baseline="3000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a </a:t>
            </a:r>
            <a:r>
              <a:rPr lang="en-US" sz="1350" dirty="0" err="1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Desenvolvimento</a:t>
            </a:r>
            <a:r>
              <a:rPr lang="en-US" sz="1350" dirty="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de </a:t>
            </a:r>
            <a:r>
              <a:rPr lang="en-US" sz="1350" dirty="0" err="1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Sistemas</a:t>
            </a:r>
            <a:endParaRPr lang="en-US" sz="1350" dirty="0">
              <a:solidFill>
                <a:srgbClr val="FFFFFF"/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03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5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F7D89-508A-43EA-8C8D-3BF684D08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5413250" cy="2175365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Montserrat SemiBold" pitchFamily="2" charset="0"/>
              </a:rPr>
              <a:t>O que </a:t>
            </a:r>
            <a:r>
              <a:rPr lang="en-US" dirty="0" err="1">
                <a:latin typeface="Montserrat SemiBold" pitchFamily="2" charset="0"/>
              </a:rPr>
              <a:t>exatamente</a:t>
            </a:r>
            <a:r>
              <a:rPr lang="en-US" dirty="0">
                <a:latin typeface="Montserrat SemiBold" pitchFamily="2" charset="0"/>
              </a:rPr>
              <a:t> é </a:t>
            </a:r>
            <a:r>
              <a:rPr lang="en-US" dirty="0" err="1">
                <a:latin typeface="Montserrat SemiBold" pitchFamily="2" charset="0"/>
              </a:rPr>
              <a:t>culinária</a:t>
            </a:r>
            <a:r>
              <a:rPr lang="en-US" dirty="0">
                <a:latin typeface="Montserrat SemiBold" pitchFamily="2" charset="0"/>
              </a:rPr>
              <a:t>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8099C-CE8F-4C54-A80F-1EFA085FA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8557"/>
            <a:ext cx="5412901" cy="3446247"/>
          </a:xfrm>
        </p:spPr>
        <p:txBody>
          <a:bodyPr anchor="ctr">
            <a:normAutofit/>
          </a:bodyPr>
          <a:lstStyle/>
          <a:p>
            <a:pPr algn="just">
              <a:buClr>
                <a:schemeClr val="tx1"/>
              </a:buClr>
              <a:buSzPct val="150000"/>
            </a:pPr>
            <a:r>
              <a:rPr lang="en-US" sz="1800" dirty="0"/>
              <a:t>	A </a:t>
            </a:r>
            <a:r>
              <a:rPr lang="en-US" sz="1800" dirty="0" err="1"/>
              <a:t>culinária</a:t>
            </a:r>
            <a:r>
              <a:rPr lang="en-US" sz="1800" dirty="0"/>
              <a:t> é a </a:t>
            </a:r>
            <a:r>
              <a:rPr lang="en-US" sz="1800" dirty="0" err="1"/>
              <a:t>arte</a:t>
            </a:r>
            <a:r>
              <a:rPr lang="en-US" sz="1800" dirty="0"/>
              <a:t> de </a:t>
            </a:r>
            <a:r>
              <a:rPr lang="en-US" sz="1800" dirty="0" err="1"/>
              <a:t>cozinhar</a:t>
            </a:r>
            <a:r>
              <a:rPr lang="en-US" sz="1800" dirty="0"/>
              <a:t> </a:t>
            </a:r>
            <a:r>
              <a:rPr lang="en-US" sz="1800" dirty="0" err="1"/>
              <a:t>ou</a:t>
            </a:r>
            <a:r>
              <a:rPr lang="en-US" sz="1800" dirty="0"/>
              <a:t> </a:t>
            </a:r>
            <a:r>
              <a:rPr lang="en-US" sz="1800" dirty="0" err="1"/>
              <a:t>seja</a:t>
            </a:r>
            <a:r>
              <a:rPr lang="en-US" sz="1800" dirty="0"/>
              <a:t>, </a:t>
            </a:r>
            <a:r>
              <a:rPr lang="en-US" sz="1800" dirty="0" err="1"/>
              <a:t>preparar</a:t>
            </a:r>
            <a:r>
              <a:rPr lang="en-US" sz="1800" dirty="0"/>
              <a:t> </a:t>
            </a:r>
            <a:r>
              <a:rPr lang="en-US" sz="1800" dirty="0" err="1"/>
              <a:t>alimentos</a:t>
            </a:r>
            <a:r>
              <a:rPr lang="en-US" sz="1800" dirty="0"/>
              <a:t>. Ela </a:t>
            </a:r>
            <a:r>
              <a:rPr lang="en-US" sz="1800" dirty="0" err="1"/>
              <a:t>evoluiu</a:t>
            </a:r>
            <a:r>
              <a:rPr lang="en-US" sz="1800" dirty="0"/>
              <a:t> </a:t>
            </a:r>
            <a:r>
              <a:rPr lang="en-US" sz="1800" dirty="0" err="1"/>
              <a:t>ao</a:t>
            </a:r>
            <a:r>
              <a:rPr lang="en-US" sz="1800" dirty="0"/>
              <a:t> </a:t>
            </a:r>
            <a:r>
              <a:rPr lang="en-US" sz="1800" dirty="0" err="1"/>
              <a:t>longo</a:t>
            </a:r>
            <a:r>
              <a:rPr lang="en-US" sz="1800" dirty="0"/>
              <a:t> da </a:t>
            </a:r>
            <a:r>
              <a:rPr lang="en-US" sz="1800" dirty="0" err="1"/>
              <a:t>história</a:t>
            </a:r>
            <a:r>
              <a:rPr lang="en-US" sz="1800" dirty="0"/>
              <a:t> dos </a:t>
            </a:r>
            <a:r>
              <a:rPr lang="en-US" sz="1800" dirty="0" err="1"/>
              <a:t>povos</a:t>
            </a:r>
            <a:r>
              <a:rPr lang="en-US" sz="1800" dirty="0"/>
              <a:t> para </a:t>
            </a:r>
            <a:r>
              <a:rPr lang="en-US" sz="1800" dirty="0" err="1"/>
              <a:t>tornar</a:t>
            </a:r>
            <a:r>
              <a:rPr lang="en-US" sz="1800" dirty="0"/>
              <a:t>-se </a:t>
            </a:r>
            <a:r>
              <a:rPr lang="en-US" sz="1800" dirty="0" err="1"/>
              <a:t>parte</a:t>
            </a:r>
            <a:r>
              <a:rPr lang="en-US" sz="1800" dirty="0"/>
              <a:t> da </a:t>
            </a:r>
            <a:r>
              <a:rPr lang="en-US" sz="1800" dirty="0" err="1"/>
              <a:t>cultura</a:t>
            </a:r>
            <a:r>
              <a:rPr lang="en-US" sz="1800" dirty="0"/>
              <a:t> de </a:t>
            </a:r>
            <a:r>
              <a:rPr lang="en-US" sz="1800" dirty="0" err="1"/>
              <a:t>cada</a:t>
            </a:r>
            <a:r>
              <a:rPr lang="en-US" sz="1800" dirty="0"/>
              <a:t> </a:t>
            </a:r>
            <a:r>
              <a:rPr lang="en-US" sz="1800" dirty="0" err="1"/>
              <a:t>povo</a:t>
            </a:r>
            <a:r>
              <a:rPr lang="en-US" sz="1800" dirty="0"/>
              <a:t>.</a:t>
            </a:r>
          </a:p>
          <a:p>
            <a:pPr>
              <a:buClr>
                <a:schemeClr val="tx1"/>
              </a:buClr>
              <a:buSzPct val="150000"/>
            </a:pPr>
            <a:r>
              <a:rPr lang="en-US" sz="1800" dirty="0"/>
              <a:t>	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metódos</a:t>
            </a:r>
            <a:r>
              <a:rPr lang="en-US" sz="1800" dirty="0"/>
              <a:t> de </a:t>
            </a:r>
            <a:r>
              <a:rPr lang="en-US" sz="1800" dirty="0" err="1"/>
              <a:t>culinária</a:t>
            </a:r>
            <a:r>
              <a:rPr lang="en-US" sz="1800" dirty="0"/>
              <a:t> </a:t>
            </a:r>
            <a:r>
              <a:rPr lang="en-US" sz="1800" dirty="0" err="1"/>
              <a:t>variam</a:t>
            </a:r>
            <a:r>
              <a:rPr lang="en-US" sz="1800" dirty="0"/>
              <a:t> de </a:t>
            </a:r>
            <a:r>
              <a:rPr lang="en-US" sz="1800" dirty="0" err="1"/>
              <a:t>região</a:t>
            </a:r>
            <a:r>
              <a:rPr lang="en-US" sz="1800" dirty="0"/>
              <a:t> para </a:t>
            </a:r>
            <a:r>
              <a:rPr lang="en-US" sz="1800" dirty="0" err="1"/>
              <a:t>região</a:t>
            </a:r>
            <a:r>
              <a:rPr lang="en-US" sz="1800" dirty="0"/>
              <a:t>, </a:t>
            </a:r>
            <a:r>
              <a:rPr lang="en-US" sz="1800" dirty="0" err="1"/>
              <a:t>não</a:t>
            </a:r>
            <a:r>
              <a:rPr lang="en-US" sz="1800" dirty="0"/>
              <a:t> </a:t>
            </a:r>
            <a:r>
              <a:rPr lang="en-US" sz="1800" dirty="0" err="1"/>
              <a:t>só</a:t>
            </a:r>
            <a:r>
              <a:rPr lang="en-US" sz="1800" dirty="0"/>
              <a:t>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ingredientes</a:t>
            </a:r>
            <a:r>
              <a:rPr lang="en-US" sz="1800" dirty="0"/>
              <a:t>, </a:t>
            </a:r>
            <a:r>
              <a:rPr lang="en-US" sz="1800" dirty="0" err="1"/>
              <a:t>como</a:t>
            </a:r>
            <a:r>
              <a:rPr lang="en-US" sz="1800" dirty="0"/>
              <a:t> </a:t>
            </a:r>
            <a:r>
              <a:rPr lang="en-US" sz="1800" dirty="0" err="1"/>
              <a:t>também</a:t>
            </a:r>
            <a:r>
              <a:rPr lang="en-US" sz="1800" dirty="0"/>
              <a:t> </a:t>
            </a:r>
            <a:r>
              <a:rPr lang="en-US" sz="1800" dirty="0" err="1"/>
              <a:t>técnicas</a:t>
            </a:r>
            <a:r>
              <a:rPr lang="en-US" sz="1800" dirty="0"/>
              <a:t> </a:t>
            </a:r>
            <a:r>
              <a:rPr lang="en-US" sz="1800" dirty="0" err="1"/>
              <a:t>culinárias</a:t>
            </a:r>
            <a:r>
              <a:rPr lang="en-US" sz="1800" dirty="0"/>
              <a:t> e </a:t>
            </a:r>
            <a:r>
              <a:rPr lang="en-US" sz="1800" dirty="0" err="1"/>
              <a:t>os</a:t>
            </a:r>
            <a:r>
              <a:rPr lang="en-US" sz="1800" dirty="0"/>
              <a:t> </a:t>
            </a:r>
            <a:r>
              <a:rPr lang="en-US" sz="1800" dirty="0" err="1"/>
              <a:t>próprios</a:t>
            </a:r>
            <a:r>
              <a:rPr lang="en-US" sz="1800" dirty="0"/>
              <a:t> </a:t>
            </a:r>
            <a:r>
              <a:rPr lang="en-US" sz="1800" dirty="0" err="1"/>
              <a:t>utensílios</a:t>
            </a:r>
            <a:r>
              <a:rPr lang="en-US" sz="1800" dirty="0"/>
              <a:t>.</a:t>
            </a:r>
          </a:p>
        </p:txBody>
      </p:sp>
      <p:pic>
        <p:nvPicPr>
          <p:cNvPr id="3074" name="Picture 2" descr="Medicina Culinária: a saúde no hábito de cozinhar - Carolina Pimentel">
            <a:extLst>
              <a:ext uri="{FF2B5EF4-FFF2-40B4-BE49-F238E27FC236}">
                <a16:creationId xmlns:a16="http://schemas.microsoft.com/office/drawing/2014/main" id="{98935C55-4388-4131-9B7B-B03A95973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242"/>
          <a:stretch/>
        </p:blipFill>
        <p:spPr bwMode="auto">
          <a:xfrm>
            <a:off x="6858001" y="1747543"/>
            <a:ext cx="4724400" cy="33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83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85652-5167-4F9E-A61E-82C96D75C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latin typeface="Montserrat SemiBold" pitchFamily="2" charset="0"/>
              </a:rPr>
              <a:t>Culinária</a:t>
            </a:r>
            <a:r>
              <a:rPr lang="en-US" dirty="0">
                <a:latin typeface="Montserrat SemiBold" pitchFamily="2" charset="0"/>
              </a:rPr>
              <a:t> </a:t>
            </a:r>
            <a:r>
              <a:rPr lang="en-US" dirty="0" err="1">
                <a:latin typeface="Montserrat SemiBold" pitchFamily="2" charset="0"/>
              </a:rPr>
              <a:t>brasileira</a:t>
            </a:r>
            <a:endParaRPr lang="en-US" dirty="0">
              <a:latin typeface="Montserrat SemiBold" pitchFamily="2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CE84B7-F322-4FE6-9954-7BBA4E3B3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Clr>
                <a:schemeClr val="tx1"/>
              </a:buClr>
              <a:buSzPct val="150000"/>
              <a:buNone/>
            </a:pPr>
            <a:r>
              <a:rPr lang="pt-BR" sz="4000" dirty="0"/>
              <a:t>A culinária brasileira é rica, saborosa e diversificada. Cada um dos estados brasileiros tem seus pratos típicos, preparados de acordo com antigas tradições, que são transmitidas a cada geração.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1609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E85FB-154F-494F-889A-A81F8D66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339"/>
            <a:ext cx="10606072" cy="1900861"/>
          </a:xfrm>
        </p:spPr>
        <p:txBody>
          <a:bodyPr>
            <a:normAutofit/>
          </a:bodyPr>
          <a:lstStyle/>
          <a:p>
            <a:r>
              <a:rPr lang="en-US" dirty="0" err="1">
                <a:latin typeface="Montserrat SemiBold" pitchFamily="2" charset="0"/>
              </a:rPr>
              <a:t>Pratos</a:t>
            </a:r>
            <a:r>
              <a:rPr lang="en-US" dirty="0">
                <a:latin typeface="Montserrat SemiBold" pitchFamily="2" charset="0"/>
              </a:rPr>
              <a:t> </a:t>
            </a:r>
            <a:r>
              <a:rPr lang="en-US" dirty="0" err="1">
                <a:latin typeface="Montserrat SemiBold" pitchFamily="2" charset="0"/>
              </a:rPr>
              <a:t>típicos</a:t>
            </a:r>
            <a:r>
              <a:rPr lang="en-US" dirty="0">
                <a:latin typeface="Montserrat SemiBold" pitchFamily="2" charset="0"/>
              </a:rPr>
              <a:t> </a:t>
            </a:r>
            <a:br>
              <a:rPr lang="en-US" dirty="0">
                <a:latin typeface="Montserrat SemiBold" pitchFamily="2" charset="0"/>
              </a:rPr>
            </a:br>
            <a:r>
              <a:rPr lang="en-US" dirty="0">
                <a:latin typeface="Montserrat SemiBold" pitchFamily="2" charset="0"/>
              </a:rPr>
              <a:t>da </a:t>
            </a:r>
            <a:r>
              <a:rPr lang="en-US" dirty="0" err="1">
                <a:latin typeface="Montserrat SemiBold" pitchFamily="2" charset="0"/>
              </a:rPr>
              <a:t>região</a:t>
            </a:r>
            <a:r>
              <a:rPr lang="en-US" dirty="0">
                <a:latin typeface="Montserrat SemiBold" pitchFamily="2" charset="0"/>
              </a:rPr>
              <a:t> Norte</a:t>
            </a:r>
          </a:p>
        </p:txBody>
      </p:sp>
      <p:graphicFrame>
        <p:nvGraphicFramePr>
          <p:cNvPr id="4104" name="Espaço Reservado para Conteúdo 2">
            <a:extLst>
              <a:ext uri="{FF2B5EF4-FFF2-40B4-BE49-F238E27FC236}">
                <a16:creationId xmlns:a16="http://schemas.microsoft.com/office/drawing/2014/main" id="{31855132-6E5E-B38F-ED80-96108A3E32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2662497"/>
              </p:ext>
            </p:extLst>
          </p:nvPr>
        </p:nvGraphicFramePr>
        <p:xfrm>
          <a:off x="4305216" y="2242393"/>
          <a:ext cx="5157547" cy="2029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Comidas Típicas do Norte do Brasil: Tacacá">
            <a:extLst>
              <a:ext uri="{FF2B5EF4-FFF2-40B4-BE49-F238E27FC236}">
                <a16:creationId xmlns:a16="http://schemas.microsoft.com/office/drawing/2014/main" id="{C63F1596-0506-4340-8AF0-C97C71F4D1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9" r="8725"/>
          <a:stretch/>
        </p:blipFill>
        <p:spPr bwMode="auto">
          <a:xfrm>
            <a:off x="1084120" y="2302297"/>
            <a:ext cx="2717589" cy="20296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Maniçoba - Paladar - Estadão">
            <a:extLst>
              <a:ext uri="{FF2B5EF4-FFF2-40B4-BE49-F238E27FC236}">
                <a16:creationId xmlns:a16="http://schemas.microsoft.com/office/drawing/2014/main" id="{7D686951-4D27-4EC4-B653-49ACE7280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105" y="4508815"/>
            <a:ext cx="2717589" cy="21124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D6B2EEC-02D5-426F-9B0F-4885CBEC1AC7}"/>
              </a:ext>
            </a:extLst>
          </p:cNvPr>
          <p:cNvSpPr/>
          <p:nvPr/>
        </p:nvSpPr>
        <p:spPr>
          <a:xfrm>
            <a:off x="3351425" y="4541328"/>
            <a:ext cx="4572000" cy="21073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60692D-4F9B-4FCB-BB89-8AC00A2616A1}"/>
              </a:ext>
            </a:extLst>
          </p:cNvPr>
          <p:cNvSpPr txBox="1"/>
          <p:nvPr/>
        </p:nvSpPr>
        <p:spPr>
          <a:xfrm>
            <a:off x="3486150" y="4747793"/>
            <a:ext cx="426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solidFill>
                  <a:schemeClr val="bg1"/>
                </a:solidFill>
              </a:rPr>
              <a:t>Maniçoba</a:t>
            </a:r>
            <a:r>
              <a:rPr lang="en-US" sz="2800" b="1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Chamada</a:t>
            </a:r>
            <a:r>
              <a:rPr lang="en-US" sz="2000" dirty="0">
                <a:solidFill>
                  <a:schemeClr val="bg1"/>
                </a:solidFill>
              </a:rPr>
              <a:t> de “feijoada </a:t>
            </a:r>
            <a:r>
              <a:rPr lang="en-US" sz="2000" dirty="0" err="1">
                <a:solidFill>
                  <a:schemeClr val="bg1"/>
                </a:solidFill>
              </a:rPr>
              <a:t>paraense</a:t>
            </a:r>
            <a:r>
              <a:rPr lang="en-US" sz="2000" dirty="0">
                <a:solidFill>
                  <a:schemeClr val="bg1"/>
                </a:solidFill>
              </a:rPr>
              <a:t>” </a:t>
            </a:r>
            <a:r>
              <a:rPr lang="en-US" sz="2000" dirty="0" err="1">
                <a:solidFill>
                  <a:schemeClr val="bg1"/>
                </a:solidFill>
              </a:rPr>
              <a:t>essa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invenção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raízes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indígenas</a:t>
            </a:r>
            <a:r>
              <a:rPr lang="en-US" sz="2000" dirty="0">
                <a:solidFill>
                  <a:schemeClr val="bg1"/>
                </a:solidFill>
              </a:rPr>
              <a:t> e leva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composição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folha</a:t>
            </a:r>
            <a:r>
              <a:rPr lang="en-US" sz="2000" dirty="0">
                <a:solidFill>
                  <a:schemeClr val="bg1"/>
                </a:solidFill>
              </a:rPr>
              <a:t> da mandioca brava, carne de </a:t>
            </a:r>
            <a:r>
              <a:rPr lang="en-US" sz="2000" dirty="0" err="1">
                <a:solidFill>
                  <a:schemeClr val="bg1"/>
                </a:solidFill>
              </a:rPr>
              <a:t>boi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vaca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33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104" grpId="0">
        <p:bldAsOne/>
      </p:bldGraphic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A2F3FA-94AC-4F17-BF29-C34690188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6705600" cy="166457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Montserrat SemiBold" pitchFamily="2" charset="0"/>
              </a:rPr>
              <a:t>Pratos</a:t>
            </a:r>
            <a:r>
              <a:rPr lang="en-US" dirty="0">
                <a:latin typeface="Montserrat SemiBold" pitchFamily="2" charset="0"/>
              </a:rPr>
              <a:t> </a:t>
            </a:r>
            <a:r>
              <a:rPr lang="en-US" dirty="0" err="1">
                <a:latin typeface="Montserrat SemiBold" pitchFamily="2" charset="0"/>
              </a:rPr>
              <a:t>típicos</a:t>
            </a:r>
            <a:br>
              <a:rPr lang="en-US" dirty="0">
                <a:latin typeface="Montserrat SemiBold" pitchFamily="2" charset="0"/>
              </a:rPr>
            </a:br>
            <a:r>
              <a:rPr lang="en-US" dirty="0">
                <a:latin typeface="Montserrat SemiBold" pitchFamily="2" charset="0"/>
              </a:rPr>
              <a:t>da </a:t>
            </a:r>
            <a:r>
              <a:rPr lang="en-US" dirty="0" err="1">
                <a:latin typeface="Montserrat SemiBold" pitchFamily="2" charset="0"/>
              </a:rPr>
              <a:t>região</a:t>
            </a:r>
            <a:r>
              <a:rPr lang="en-US" dirty="0">
                <a:latin typeface="Montserrat SemiBold" pitchFamily="2" charset="0"/>
              </a:rPr>
              <a:t> </a:t>
            </a:r>
            <a:r>
              <a:rPr lang="en-US" dirty="0" err="1">
                <a:latin typeface="Montserrat SemiBold" pitchFamily="2" charset="0"/>
              </a:rPr>
              <a:t>Nordeste</a:t>
            </a:r>
            <a:endParaRPr lang="en-US" dirty="0">
              <a:latin typeface="Montserrat SemiBold" pitchFamily="2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47E997-9475-4BF3-9CAD-8D2848E59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6705168" cy="3728613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8EF76A5-4598-414E-AF40-BB1AF367EFDB}"/>
              </a:ext>
            </a:extLst>
          </p:cNvPr>
          <p:cNvSpPr/>
          <p:nvPr/>
        </p:nvSpPr>
        <p:spPr>
          <a:xfrm>
            <a:off x="838200" y="2411653"/>
            <a:ext cx="4676775" cy="21947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61DFE2-21BB-4E7A-A56B-0D9D6590B599}"/>
              </a:ext>
            </a:extLst>
          </p:cNvPr>
          <p:cNvSpPr txBox="1"/>
          <p:nvPr/>
        </p:nvSpPr>
        <p:spPr>
          <a:xfrm>
            <a:off x="835152" y="2386620"/>
            <a:ext cx="467982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   </a:t>
            </a:r>
            <a:r>
              <a:rPr lang="en-US" sz="2400" b="1" dirty="0" err="1">
                <a:solidFill>
                  <a:schemeClr val="bg1"/>
                </a:solidFill>
              </a:rPr>
              <a:t>Acarajé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000" dirty="0" err="1">
                <a:solidFill>
                  <a:schemeClr val="bg1"/>
                </a:solidFill>
              </a:rPr>
              <a:t>Muito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consumido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</a:t>
            </a:r>
            <a:r>
              <a:rPr lang="en-US" sz="2000" dirty="0">
                <a:solidFill>
                  <a:schemeClr val="bg1"/>
                </a:solidFill>
              </a:rPr>
              <a:t> Bahia. </a:t>
            </a:r>
            <a:r>
              <a:rPr lang="en-US" sz="2000" dirty="0" err="1">
                <a:solidFill>
                  <a:schemeClr val="bg1"/>
                </a:solidFill>
              </a:rPr>
              <a:t>Ele</a:t>
            </a:r>
            <a:r>
              <a:rPr lang="en-US" sz="2000" dirty="0">
                <a:solidFill>
                  <a:schemeClr val="bg1"/>
                </a:solidFill>
              </a:rPr>
              <a:t> é </a:t>
            </a:r>
            <a:r>
              <a:rPr lang="en-US" sz="2000" dirty="0" err="1">
                <a:solidFill>
                  <a:schemeClr val="bg1"/>
                </a:solidFill>
              </a:rPr>
              <a:t>feitoo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massa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feijão-fradinho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cebola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sal</a:t>
            </a:r>
            <a:r>
              <a:rPr lang="en-US" sz="2000" dirty="0">
                <a:solidFill>
                  <a:schemeClr val="bg1"/>
                </a:solidFill>
              </a:rPr>
              <a:t>, e </a:t>
            </a:r>
            <a:r>
              <a:rPr lang="en-US" sz="2000" dirty="0" err="1">
                <a:solidFill>
                  <a:schemeClr val="bg1"/>
                </a:solidFill>
              </a:rPr>
              <a:t>passa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por</a:t>
            </a:r>
            <a:r>
              <a:rPr lang="en-US" sz="2000" dirty="0">
                <a:solidFill>
                  <a:schemeClr val="bg1"/>
                </a:solidFill>
              </a:rPr>
              <a:t> um </a:t>
            </a:r>
            <a:r>
              <a:rPr lang="en-US" sz="2000" dirty="0" err="1">
                <a:solidFill>
                  <a:schemeClr val="bg1"/>
                </a:solidFill>
              </a:rPr>
              <a:t>processo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fritura</a:t>
            </a:r>
            <a:r>
              <a:rPr lang="en-US" sz="2000" dirty="0">
                <a:solidFill>
                  <a:schemeClr val="bg1"/>
                </a:solidFill>
              </a:rPr>
              <a:t> no </a:t>
            </a:r>
            <a:r>
              <a:rPr lang="en-US" sz="2000" dirty="0" err="1">
                <a:solidFill>
                  <a:schemeClr val="bg1"/>
                </a:solidFill>
              </a:rPr>
              <a:t>azeite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dendê</a:t>
            </a:r>
            <a:r>
              <a:rPr lang="en-US" sz="2000" dirty="0">
                <a:solidFill>
                  <a:schemeClr val="bg1"/>
                </a:solidFill>
              </a:rPr>
              <a:t>. Uma </a:t>
            </a:r>
            <a:r>
              <a:rPr lang="en-US" sz="2000" dirty="0" err="1">
                <a:solidFill>
                  <a:schemeClr val="bg1"/>
                </a:solidFill>
              </a:rPr>
              <a:t>iguaria</a:t>
            </a:r>
            <a:r>
              <a:rPr lang="en-US" sz="2000" dirty="0">
                <a:solidFill>
                  <a:schemeClr val="bg1"/>
                </a:solidFill>
              </a:rPr>
              <a:t> popular </a:t>
            </a:r>
            <a:r>
              <a:rPr lang="en-US" sz="2000" dirty="0" err="1">
                <a:solidFill>
                  <a:schemeClr val="bg1"/>
                </a:solidFill>
              </a:rPr>
              <a:t>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culinária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Brasileira</a:t>
            </a:r>
            <a:r>
              <a:rPr lang="en-US" sz="2000" dirty="0">
                <a:solidFill>
                  <a:schemeClr val="bg1"/>
                </a:solidFill>
              </a:rPr>
              <a:t> e Africana.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O acarajé de Bela Gil - Casa e Jardim | Dia de feira, por Bela Gil">
            <a:extLst>
              <a:ext uri="{FF2B5EF4-FFF2-40B4-BE49-F238E27FC236}">
                <a16:creationId xmlns:a16="http://schemas.microsoft.com/office/drawing/2014/main" id="{56A864E9-3A9D-41BD-A38A-E13AC385B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802" y="2500691"/>
            <a:ext cx="3037132" cy="18982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2AA562D-610D-43CB-B295-6DE5BBBE500C}"/>
              </a:ext>
            </a:extLst>
          </p:cNvPr>
          <p:cNvSpPr/>
          <p:nvPr/>
        </p:nvSpPr>
        <p:spPr>
          <a:xfrm>
            <a:off x="3621741" y="4697506"/>
            <a:ext cx="5253318" cy="20005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986380-FFDB-4B35-9E23-A1DD59F3192D}"/>
              </a:ext>
            </a:extLst>
          </p:cNvPr>
          <p:cNvSpPr txBox="1"/>
          <p:nvPr/>
        </p:nvSpPr>
        <p:spPr>
          <a:xfrm>
            <a:off x="3621741" y="4648025"/>
            <a:ext cx="525331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   </a:t>
            </a:r>
            <a:r>
              <a:rPr lang="en-US" sz="2400" b="1" dirty="0" err="1">
                <a:solidFill>
                  <a:schemeClr val="bg1"/>
                </a:solidFill>
              </a:rPr>
              <a:t>Vatapá</a:t>
            </a:r>
            <a:r>
              <a:rPr lang="en-US" sz="2400" b="1" dirty="0">
                <a:solidFill>
                  <a:schemeClr val="bg1"/>
                </a:solidFill>
              </a:rPr>
              <a:t>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Vatapá</a:t>
            </a:r>
            <a:r>
              <a:rPr lang="en-US" sz="2000" dirty="0">
                <a:solidFill>
                  <a:schemeClr val="bg1"/>
                </a:solidFill>
              </a:rPr>
              <a:t> é um </a:t>
            </a:r>
            <a:r>
              <a:rPr lang="en-US" sz="2000" dirty="0" err="1">
                <a:solidFill>
                  <a:schemeClr val="bg1"/>
                </a:solidFill>
              </a:rPr>
              <a:t>prato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típico</a:t>
            </a:r>
            <a:r>
              <a:rPr lang="en-US" sz="2000" dirty="0">
                <a:solidFill>
                  <a:schemeClr val="bg1"/>
                </a:solidFill>
              </a:rPr>
              <a:t> da </a:t>
            </a:r>
            <a:r>
              <a:rPr lang="en-US" sz="2000" dirty="0" err="1">
                <a:solidFill>
                  <a:schemeClr val="bg1"/>
                </a:solidFill>
              </a:rPr>
              <a:t>culinária</a:t>
            </a:r>
            <a:r>
              <a:rPr lang="en-US" sz="2000" dirty="0">
                <a:solidFill>
                  <a:schemeClr val="bg1"/>
                </a:solidFill>
              </a:rPr>
              <a:t> afro-</a:t>
            </a:r>
            <a:r>
              <a:rPr lang="en-US" sz="2000" dirty="0" err="1">
                <a:solidFill>
                  <a:schemeClr val="bg1"/>
                </a:solidFill>
              </a:rPr>
              <a:t>brasileira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 err="1">
                <a:solidFill>
                  <a:schemeClr val="bg1"/>
                </a:solidFill>
              </a:rPr>
              <a:t>Ele</a:t>
            </a:r>
            <a:r>
              <a:rPr lang="en-US" sz="2000" dirty="0">
                <a:solidFill>
                  <a:schemeClr val="bg1"/>
                </a:solidFill>
              </a:rPr>
              <a:t> é </a:t>
            </a:r>
            <a:r>
              <a:rPr lang="en-US" sz="2000" dirty="0" err="1">
                <a:solidFill>
                  <a:schemeClr val="bg1"/>
                </a:solidFill>
              </a:rPr>
              <a:t>feito</a:t>
            </a:r>
            <a:r>
              <a:rPr lang="en-US" sz="2000" dirty="0">
                <a:solidFill>
                  <a:schemeClr val="bg1"/>
                </a:solidFill>
              </a:rPr>
              <a:t> com farinha de </a:t>
            </a:r>
            <a:r>
              <a:rPr lang="en-US" sz="2000" dirty="0" err="1">
                <a:solidFill>
                  <a:schemeClr val="bg1"/>
                </a:solidFill>
              </a:rPr>
              <a:t>rosca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fubá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leite</a:t>
            </a:r>
            <a:r>
              <a:rPr lang="en-US" sz="2000" dirty="0">
                <a:solidFill>
                  <a:schemeClr val="bg1"/>
                </a:solidFill>
              </a:rPr>
              <a:t> de coco, </a:t>
            </a:r>
            <a:r>
              <a:rPr lang="en-US" sz="2000" dirty="0" err="1">
                <a:solidFill>
                  <a:schemeClr val="bg1"/>
                </a:solidFill>
              </a:rPr>
              <a:t>camarão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amendoim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pão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azeite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dendê</a:t>
            </a:r>
            <a:r>
              <a:rPr lang="en-US" sz="2000" dirty="0">
                <a:solidFill>
                  <a:schemeClr val="bg1"/>
                </a:solidFill>
              </a:rPr>
              <a:t>, Castanha de </a:t>
            </a:r>
            <a:r>
              <a:rPr lang="en-US" sz="2000" dirty="0" err="1">
                <a:solidFill>
                  <a:schemeClr val="bg1"/>
                </a:solidFill>
              </a:rPr>
              <a:t>caju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pimenta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5" name="Picture 2" descr="comida tipica do nordeste">
            <a:extLst>
              <a:ext uri="{FF2B5EF4-FFF2-40B4-BE49-F238E27FC236}">
                <a16:creationId xmlns:a16="http://schemas.microsoft.com/office/drawing/2014/main" id="{87FFAC80-256F-44EE-9264-EBE47453B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152" y="4767813"/>
            <a:ext cx="2479911" cy="18599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739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25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6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BE3CFF-1B8E-4789-AA2F-9B6BA5A3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6705600" cy="1664573"/>
          </a:xfrm>
        </p:spPr>
        <p:txBody>
          <a:bodyPr>
            <a:normAutofit/>
          </a:bodyPr>
          <a:lstStyle/>
          <a:p>
            <a:r>
              <a:rPr lang="en-US" sz="4100" dirty="0" err="1">
                <a:latin typeface="Montserrat SemiBold" pitchFamily="2" charset="0"/>
              </a:rPr>
              <a:t>Pratos</a:t>
            </a:r>
            <a:r>
              <a:rPr lang="en-US" sz="4100" dirty="0">
                <a:latin typeface="Montserrat SemiBold" pitchFamily="2" charset="0"/>
              </a:rPr>
              <a:t> </a:t>
            </a:r>
            <a:r>
              <a:rPr lang="en-US" sz="4100" dirty="0" err="1">
                <a:latin typeface="Montserrat SemiBold" pitchFamily="2" charset="0"/>
              </a:rPr>
              <a:t>típicos</a:t>
            </a:r>
            <a:br>
              <a:rPr lang="en-US" sz="4100" dirty="0">
                <a:latin typeface="Montserrat SemiBold" pitchFamily="2" charset="0"/>
              </a:rPr>
            </a:br>
            <a:r>
              <a:rPr lang="en-US" sz="4100" dirty="0">
                <a:latin typeface="Montserrat SemiBold" pitchFamily="2" charset="0"/>
              </a:rPr>
              <a:t>da </a:t>
            </a:r>
            <a:r>
              <a:rPr lang="en-US" sz="4100" dirty="0" err="1">
                <a:latin typeface="Montserrat SemiBold" pitchFamily="2" charset="0"/>
              </a:rPr>
              <a:t>região</a:t>
            </a:r>
            <a:r>
              <a:rPr lang="en-US" sz="4100" dirty="0">
                <a:latin typeface="Montserrat SemiBold" pitchFamily="2" charset="0"/>
              </a:rPr>
              <a:t> </a:t>
            </a:r>
            <a:r>
              <a:rPr lang="en-US" sz="4100" dirty="0" err="1">
                <a:latin typeface="Montserrat SemiBold" pitchFamily="2" charset="0"/>
              </a:rPr>
              <a:t>centro-oeste</a:t>
            </a:r>
            <a:endParaRPr lang="en-US" sz="4100" dirty="0">
              <a:latin typeface="Montserrat SemiBold" pitchFamily="2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0CB02C-5815-4F54-A9A6-4415E74CD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6705168" cy="3728613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BE8E9C30-97BA-42FD-BF3A-8C518DCD7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21" y="2411651"/>
            <a:ext cx="2979847" cy="19775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C206BBD-925A-4F2C-A2B7-3D0B9CFCE7D3}"/>
              </a:ext>
            </a:extLst>
          </p:cNvPr>
          <p:cNvSpPr/>
          <p:nvPr/>
        </p:nvSpPr>
        <p:spPr>
          <a:xfrm>
            <a:off x="3981450" y="2411651"/>
            <a:ext cx="5695950" cy="19775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B7EE09-187E-4DF9-BC30-CF2A70FA9E79}"/>
              </a:ext>
            </a:extLst>
          </p:cNvPr>
          <p:cNvSpPr txBox="1"/>
          <p:nvPr/>
        </p:nvSpPr>
        <p:spPr>
          <a:xfrm>
            <a:off x="3981450" y="2446947"/>
            <a:ext cx="569595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   Arroz com </a:t>
            </a:r>
            <a:r>
              <a:rPr lang="en-US" sz="2400" b="1" dirty="0" err="1">
                <a:solidFill>
                  <a:schemeClr val="bg1"/>
                </a:solidFill>
              </a:rPr>
              <a:t>Pequi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O</a:t>
            </a:r>
            <a:r>
              <a:rPr lang="en-US" sz="2000" dirty="0">
                <a:solidFill>
                  <a:schemeClr val="bg1"/>
                </a:solidFill>
              </a:rPr>
              <a:t> arroz com </a:t>
            </a:r>
            <a:r>
              <a:rPr lang="en-US" sz="2000" dirty="0" err="1">
                <a:solidFill>
                  <a:schemeClr val="bg1"/>
                </a:solidFill>
              </a:rPr>
              <a:t>pequi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ressalta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receita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agricultura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rica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arroz, </a:t>
            </a:r>
            <a:r>
              <a:rPr lang="en-US" sz="2000" dirty="0" err="1">
                <a:solidFill>
                  <a:schemeClr val="bg1"/>
                </a:solidFill>
              </a:rPr>
              <a:t>milho</a:t>
            </a:r>
            <a:r>
              <a:rPr lang="en-US" sz="2000" dirty="0">
                <a:solidFill>
                  <a:schemeClr val="bg1"/>
                </a:solidFill>
              </a:rPr>
              <a:t> e mandioca da </a:t>
            </a:r>
            <a:r>
              <a:rPr lang="en-US" sz="2000" dirty="0" err="1">
                <a:solidFill>
                  <a:schemeClr val="bg1"/>
                </a:solidFill>
              </a:rPr>
              <a:t>região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centro-oeste</a:t>
            </a:r>
            <a:r>
              <a:rPr lang="en-US" sz="2000" dirty="0">
                <a:solidFill>
                  <a:schemeClr val="bg1"/>
                </a:solidFill>
              </a:rPr>
              <a:t>. O </a:t>
            </a:r>
            <a:r>
              <a:rPr lang="en-US" sz="2000" dirty="0" err="1">
                <a:solidFill>
                  <a:schemeClr val="bg1"/>
                </a:solidFill>
              </a:rPr>
              <a:t>pequi</a:t>
            </a:r>
            <a:r>
              <a:rPr lang="en-US" sz="2000" dirty="0">
                <a:solidFill>
                  <a:schemeClr val="bg1"/>
                </a:solidFill>
              </a:rPr>
              <a:t> é </a:t>
            </a:r>
            <a:r>
              <a:rPr lang="en-US" sz="2000" dirty="0" err="1">
                <a:solidFill>
                  <a:schemeClr val="bg1"/>
                </a:solidFill>
              </a:rPr>
              <a:t>uma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fruta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nativa</a:t>
            </a:r>
            <a:r>
              <a:rPr lang="en-US" sz="2000" dirty="0">
                <a:solidFill>
                  <a:schemeClr val="bg1"/>
                </a:solidFill>
              </a:rPr>
              <a:t> do </a:t>
            </a:r>
            <a:r>
              <a:rPr lang="en-US" sz="2000" dirty="0" err="1">
                <a:solidFill>
                  <a:schemeClr val="bg1"/>
                </a:solidFill>
              </a:rPr>
              <a:t>Brasil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sua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tonalidade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amarelada</a:t>
            </a:r>
            <a:r>
              <a:rPr lang="en-US" sz="2000" dirty="0">
                <a:solidFill>
                  <a:schemeClr val="bg1"/>
                </a:solidFill>
              </a:rPr>
              <a:t> é </a:t>
            </a:r>
            <a:r>
              <a:rPr lang="en-US" sz="2000" dirty="0" err="1">
                <a:solidFill>
                  <a:schemeClr val="bg1"/>
                </a:solidFill>
              </a:rPr>
              <a:t>tão</a:t>
            </a:r>
            <a:r>
              <a:rPr lang="en-US" sz="2000" dirty="0">
                <a:solidFill>
                  <a:schemeClr val="bg1"/>
                </a:solidFill>
              </a:rPr>
              <a:t> forte que o </a:t>
            </a:r>
            <a:r>
              <a:rPr lang="en-US" sz="2000" dirty="0" err="1">
                <a:solidFill>
                  <a:schemeClr val="bg1"/>
                </a:solidFill>
              </a:rPr>
              <a:t>prato</a:t>
            </a:r>
            <a:r>
              <a:rPr lang="en-US" sz="2000" dirty="0">
                <a:solidFill>
                  <a:schemeClr val="bg1"/>
                </a:solidFill>
              </a:rPr>
              <a:t> se </a:t>
            </a:r>
            <a:r>
              <a:rPr lang="en-US" sz="2000" dirty="0" err="1">
                <a:solidFill>
                  <a:schemeClr val="bg1"/>
                </a:solidFill>
              </a:rPr>
              <a:t>une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em</a:t>
            </a:r>
            <a:r>
              <a:rPr lang="en-US" sz="2000" dirty="0">
                <a:solidFill>
                  <a:schemeClr val="bg1"/>
                </a:solidFill>
              </a:rPr>
              <a:t> um </a:t>
            </a:r>
            <a:r>
              <a:rPr lang="en-US" sz="2000" dirty="0" err="1">
                <a:solidFill>
                  <a:schemeClr val="bg1"/>
                </a:solidFill>
              </a:rPr>
              <a:t>único</a:t>
            </a:r>
            <a:r>
              <a:rPr lang="en-US" sz="2000" dirty="0">
                <a:solidFill>
                  <a:schemeClr val="bg1"/>
                </a:solidFill>
              </a:rPr>
              <a:t> tom.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8793758-D5C8-4317-ABB2-6116428E8A2F}"/>
              </a:ext>
            </a:extLst>
          </p:cNvPr>
          <p:cNvSpPr/>
          <p:nvPr/>
        </p:nvSpPr>
        <p:spPr>
          <a:xfrm>
            <a:off x="835152" y="4663215"/>
            <a:ext cx="5236971" cy="1898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47627A-6646-4CD5-8792-4D746B520614}"/>
              </a:ext>
            </a:extLst>
          </p:cNvPr>
          <p:cNvSpPr txBox="1"/>
          <p:nvPr/>
        </p:nvSpPr>
        <p:spPr>
          <a:xfrm>
            <a:off x="832104" y="4638182"/>
            <a:ext cx="523697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   Mojica de pintado: </a:t>
            </a:r>
            <a:r>
              <a:rPr lang="en-US" sz="1600" dirty="0">
                <a:solidFill>
                  <a:schemeClr val="bg1"/>
                </a:solidFill>
              </a:rPr>
              <a:t>O Mojica de pintado é um dos </a:t>
            </a:r>
            <a:r>
              <a:rPr lang="en-US" sz="1600" dirty="0" err="1">
                <a:solidFill>
                  <a:schemeClr val="bg1"/>
                </a:solidFill>
              </a:rPr>
              <a:t>principais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pratos</a:t>
            </a:r>
            <a:r>
              <a:rPr lang="en-US" sz="1600" dirty="0">
                <a:solidFill>
                  <a:schemeClr val="bg1"/>
                </a:solidFill>
              </a:rPr>
              <a:t> da comida </a:t>
            </a:r>
            <a:r>
              <a:rPr lang="en-US" sz="1600" dirty="0" err="1">
                <a:solidFill>
                  <a:schemeClr val="bg1"/>
                </a:solidFill>
              </a:rPr>
              <a:t>típica</a:t>
            </a:r>
            <a:r>
              <a:rPr lang="en-US" sz="1600" dirty="0">
                <a:solidFill>
                  <a:schemeClr val="bg1"/>
                </a:solidFill>
              </a:rPr>
              <a:t> de </a:t>
            </a:r>
            <a:r>
              <a:rPr lang="en-US" sz="1600" dirty="0" err="1">
                <a:solidFill>
                  <a:schemeClr val="bg1"/>
                </a:solidFill>
              </a:rPr>
              <a:t>Cuiába</a:t>
            </a:r>
            <a:r>
              <a:rPr lang="en-US" sz="1600" dirty="0">
                <a:solidFill>
                  <a:schemeClr val="bg1"/>
                </a:solidFill>
              </a:rPr>
              <a:t> e </a:t>
            </a:r>
            <a:r>
              <a:rPr lang="en-US" sz="1600" dirty="0" err="1">
                <a:solidFill>
                  <a:schemeClr val="bg1"/>
                </a:solidFill>
              </a:rPr>
              <a:t>raízes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indígenas</a:t>
            </a:r>
            <a:r>
              <a:rPr lang="en-US" sz="1600" dirty="0">
                <a:solidFill>
                  <a:schemeClr val="bg1"/>
                </a:solidFill>
              </a:rPr>
              <a:t>. O </a:t>
            </a:r>
            <a:r>
              <a:rPr lang="en-US" sz="1600" dirty="0" err="1">
                <a:solidFill>
                  <a:schemeClr val="bg1"/>
                </a:solidFill>
              </a:rPr>
              <a:t>peixe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escolhido</a:t>
            </a:r>
            <a:r>
              <a:rPr lang="en-US" sz="1600" dirty="0">
                <a:solidFill>
                  <a:schemeClr val="bg1"/>
                </a:solidFill>
              </a:rPr>
              <a:t> é o pintado e, </a:t>
            </a:r>
            <a:r>
              <a:rPr lang="en-US" sz="1600" dirty="0" err="1">
                <a:solidFill>
                  <a:schemeClr val="bg1"/>
                </a:solidFill>
              </a:rPr>
              <a:t>após</a:t>
            </a:r>
            <a:r>
              <a:rPr lang="en-US" sz="1600" dirty="0">
                <a:solidFill>
                  <a:schemeClr val="bg1"/>
                </a:solidFill>
              </a:rPr>
              <a:t> ser picado, é </a:t>
            </a:r>
            <a:r>
              <a:rPr lang="en-US" sz="1600" dirty="0" err="1">
                <a:solidFill>
                  <a:schemeClr val="bg1"/>
                </a:solidFill>
              </a:rPr>
              <a:t>cozido</a:t>
            </a:r>
            <a:r>
              <a:rPr lang="en-US" sz="1600" dirty="0">
                <a:solidFill>
                  <a:schemeClr val="bg1"/>
                </a:solidFill>
              </a:rPr>
              <a:t> junto com </a:t>
            </a:r>
            <a:r>
              <a:rPr lang="en-US" sz="1600" dirty="0" err="1">
                <a:solidFill>
                  <a:schemeClr val="bg1"/>
                </a:solidFill>
              </a:rPr>
              <a:t>pedaços</a:t>
            </a:r>
            <a:r>
              <a:rPr lang="en-US" sz="1600" dirty="0">
                <a:solidFill>
                  <a:schemeClr val="bg1"/>
                </a:solidFill>
              </a:rPr>
              <a:t> de mandioca, </a:t>
            </a:r>
            <a:r>
              <a:rPr lang="en-US" sz="1600" dirty="0" err="1">
                <a:solidFill>
                  <a:schemeClr val="bg1"/>
                </a:solidFill>
              </a:rPr>
              <a:t>tomate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cebola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alho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cheiro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verde</a:t>
            </a:r>
            <a:r>
              <a:rPr lang="en-US" sz="1600" dirty="0">
                <a:solidFill>
                  <a:schemeClr val="bg1"/>
                </a:solidFill>
              </a:rPr>
              <a:t>, pimento de </a:t>
            </a:r>
            <a:r>
              <a:rPr lang="en-US" sz="1600" dirty="0" err="1">
                <a:solidFill>
                  <a:schemeClr val="bg1"/>
                </a:solidFill>
              </a:rPr>
              <a:t>cheiro</a:t>
            </a:r>
            <a:r>
              <a:rPr lang="en-US" sz="1600" dirty="0">
                <a:solidFill>
                  <a:schemeClr val="bg1"/>
                </a:solidFill>
              </a:rPr>
              <a:t> e </a:t>
            </a:r>
            <a:r>
              <a:rPr lang="en-US" sz="1600" dirty="0" err="1">
                <a:solidFill>
                  <a:schemeClr val="bg1"/>
                </a:solidFill>
              </a:rPr>
              <a:t>sal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A7640A1E-8DD0-4DD9-AFBC-2AD814FC8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940" y="4668888"/>
            <a:ext cx="2979848" cy="19775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018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/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499A9-60D3-4BEE-B85C-3681D5A03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6705600" cy="166457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Montserrat SemiBold" pitchFamily="2" charset="0"/>
              </a:rPr>
              <a:t>Pratos</a:t>
            </a:r>
            <a:r>
              <a:rPr lang="en-US" dirty="0">
                <a:latin typeface="Montserrat SemiBold" pitchFamily="2" charset="0"/>
              </a:rPr>
              <a:t> </a:t>
            </a:r>
            <a:r>
              <a:rPr lang="en-US" dirty="0" err="1">
                <a:latin typeface="Montserrat SemiBold" pitchFamily="2" charset="0"/>
              </a:rPr>
              <a:t>típicos</a:t>
            </a:r>
            <a:br>
              <a:rPr lang="en-US" dirty="0">
                <a:latin typeface="Montserrat SemiBold" pitchFamily="2" charset="0"/>
              </a:rPr>
            </a:br>
            <a:r>
              <a:rPr lang="en-US" dirty="0">
                <a:latin typeface="Montserrat SemiBold" pitchFamily="2" charset="0"/>
              </a:rPr>
              <a:t>da </a:t>
            </a:r>
            <a:r>
              <a:rPr lang="en-US" dirty="0" err="1">
                <a:latin typeface="Montserrat SemiBold" pitchFamily="2" charset="0"/>
              </a:rPr>
              <a:t>região</a:t>
            </a:r>
            <a:r>
              <a:rPr lang="en-US" dirty="0">
                <a:latin typeface="Montserrat SemiBold" pitchFamily="2" charset="0"/>
              </a:rPr>
              <a:t> </a:t>
            </a:r>
            <a:r>
              <a:rPr lang="en-US" dirty="0" err="1">
                <a:latin typeface="Montserrat SemiBold" pitchFamily="2" charset="0"/>
              </a:rPr>
              <a:t>Sudeste</a:t>
            </a:r>
            <a:endParaRPr lang="en-US" dirty="0">
              <a:latin typeface="Montserrat SemiBold" pitchFamily="2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986A-457D-41BC-B0D3-1F7E155D6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6705168" cy="3728613"/>
          </a:xfrm>
        </p:spPr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460DBBC-42A9-413F-BF63-3D5DFFDB8CAC}"/>
              </a:ext>
            </a:extLst>
          </p:cNvPr>
          <p:cNvSpPr/>
          <p:nvPr/>
        </p:nvSpPr>
        <p:spPr>
          <a:xfrm>
            <a:off x="838200" y="2375647"/>
            <a:ext cx="6705600" cy="20439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2635A2A-A998-43B1-8DBC-72CAEED6BE27}"/>
              </a:ext>
            </a:extLst>
          </p:cNvPr>
          <p:cNvSpPr txBox="1"/>
          <p:nvPr/>
        </p:nvSpPr>
        <p:spPr>
          <a:xfrm>
            <a:off x="835152" y="2350614"/>
            <a:ext cx="67116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   </a:t>
            </a:r>
            <a:r>
              <a:rPr lang="en-US" sz="2400" b="1" dirty="0" err="1">
                <a:solidFill>
                  <a:schemeClr val="bg1"/>
                </a:solidFill>
              </a:rPr>
              <a:t>Pão</a:t>
            </a:r>
            <a:r>
              <a:rPr lang="en-US" sz="2400" b="1" dirty="0">
                <a:solidFill>
                  <a:schemeClr val="bg1"/>
                </a:solidFill>
              </a:rPr>
              <a:t> de queijo: </a:t>
            </a:r>
            <a:r>
              <a:rPr lang="en-US" sz="2400" dirty="0" err="1">
                <a:solidFill>
                  <a:schemeClr val="bg1"/>
                </a:solidFill>
              </a:rPr>
              <a:t>Ele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está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presente</a:t>
            </a:r>
            <a:r>
              <a:rPr lang="en-US" sz="2400" dirty="0">
                <a:solidFill>
                  <a:schemeClr val="bg1"/>
                </a:solidFill>
              </a:rPr>
              <a:t> no </a:t>
            </a:r>
            <a:r>
              <a:rPr lang="en-US" sz="2400" dirty="0" err="1">
                <a:solidFill>
                  <a:schemeClr val="bg1"/>
                </a:solidFill>
              </a:rPr>
              <a:t>Brasil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inteiro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porém</a:t>
            </a:r>
            <a:r>
              <a:rPr lang="en-US" sz="2400" dirty="0">
                <a:solidFill>
                  <a:schemeClr val="bg1"/>
                </a:solidFill>
              </a:rPr>
              <a:t> o de Minas Gerais sempre </a:t>
            </a:r>
            <a:r>
              <a:rPr lang="en-US" sz="2400" dirty="0" err="1">
                <a:solidFill>
                  <a:schemeClr val="bg1"/>
                </a:solidFill>
              </a:rPr>
              <a:t>será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melhor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podendo</a:t>
            </a:r>
            <a:r>
              <a:rPr lang="en-US" sz="2400" dirty="0">
                <a:solidFill>
                  <a:schemeClr val="bg1"/>
                </a:solidFill>
              </a:rPr>
              <a:t> ser </a:t>
            </a:r>
            <a:r>
              <a:rPr lang="en-US" sz="2400" dirty="0" err="1">
                <a:solidFill>
                  <a:schemeClr val="bg1"/>
                </a:solidFill>
              </a:rPr>
              <a:t>degustado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normalmente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recheado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4098" name="Picture 2" descr="Pão de queijo simples e fácil - TudoGostoso">
            <a:extLst>
              <a:ext uri="{FF2B5EF4-FFF2-40B4-BE49-F238E27FC236}">
                <a16:creationId xmlns:a16="http://schemas.microsoft.com/office/drawing/2014/main" id="{D4442A4B-70A5-494F-88BE-315106EF3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253" y="2375647"/>
            <a:ext cx="3628017" cy="20439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699D7E3-E966-49C5-97AF-F05DE289396A}"/>
              </a:ext>
            </a:extLst>
          </p:cNvPr>
          <p:cNvSpPr/>
          <p:nvPr/>
        </p:nvSpPr>
        <p:spPr>
          <a:xfrm>
            <a:off x="4141694" y="4607859"/>
            <a:ext cx="7100047" cy="20439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859762-92DC-4192-89F1-B4BAD3FAB80E}"/>
              </a:ext>
            </a:extLst>
          </p:cNvPr>
          <p:cNvSpPr txBox="1"/>
          <p:nvPr/>
        </p:nvSpPr>
        <p:spPr>
          <a:xfrm>
            <a:off x="4141694" y="4602178"/>
            <a:ext cx="71000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   </a:t>
            </a:r>
            <a:r>
              <a:rPr lang="en-US" sz="2400" b="1" dirty="0" err="1">
                <a:solidFill>
                  <a:schemeClr val="bg1"/>
                </a:solidFill>
              </a:rPr>
              <a:t>Filé</a:t>
            </a:r>
            <a:r>
              <a:rPr lang="en-US" sz="2400" b="1" dirty="0">
                <a:solidFill>
                  <a:schemeClr val="bg1"/>
                </a:solidFill>
              </a:rPr>
              <a:t> a Osvaldo </a:t>
            </a:r>
            <a:r>
              <a:rPr lang="en-US" sz="2400" b="1" dirty="0" err="1">
                <a:solidFill>
                  <a:schemeClr val="bg1"/>
                </a:solidFill>
              </a:rPr>
              <a:t>Aranha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O </a:t>
            </a:r>
            <a:r>
              <a:rPr lang="en-US" sz="2400" dirty="0" err="1">
                <a:solidFill>
                  <a:schemeClr val="bg1"/>
                </a:solidFill>
              </a:rPr>
              <a:t>prato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típico</a:t>
            </a:r>
            <a:r>
              <a:rPr lang="en-US" sz="2400" dirty="0">
                <a:solidFill>
                  <a:schemeClr val="bg1"/>
                </a:solidFill>
              </a:rPr>
              <a:t> carioca </a:t>
            </a:r>
            <a:r>
              <a:rPr lang="en-US" sz="2400" dirty="0" err="1">
                <a:solidFill>
                  <a:schemeClr val="bg1"/>
                </a:solidFill>
              </a:rPr>
              <a:t>consiste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em</a:t>
            </a:r>
            <a:r>
              <a:rPr lang="en-US" sz="2400" dirty="0">
                <a:solidFill>
                  <a:schemeClr val="bg1"/>
                </a:solidFill>
              </a:rPr>
              <a:t> um </a:t>
            </a:r>
            <a:r>
              <a:rPr lang="en-US" sz="2400" dirty="0" err="1">
                <a:solidFill>
                  <a:schemeClr val="bg1"/>
                </a:solidFill>
              </a:rPr>
              <a:t>filé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ou</a:t>
            </a:r>
            <a:r>
              <a:rPr lang="en-US" sz="2400" dirty="0">
                <a:solidFill>
                  <a:schemeClr val="bg1"/>
                </a:solidFill>
              </a:rPr>
              <a:t> contra-</a:t>
            </a:r>
            <a:r>
              <a:rPr lang="en-US" sz="2400" dirty="0" err="1">
                <a:solidFill>
                  <a:schemeClr val="bg1"/>
                </a:solidFill>
              </a:rPr>
              <a:t>filé</a:t>
            </a:r>
            <a:r>
              <a:rPr lang="en-US" sz="2400" dirty="0">
                <a:solidFill>
                  <a:schemeClr val="bg1"/>
                </a:solidFill>
              </a:rPr>
              <a:t> com </a:t>
            </a:r>
            <a:r>
              <a:rPr lang="en-US" sz="2400" dirty="0" err="1">
                <a:solidFill>
                  <a:schemeClr val="bg1"/>
                </a:solidFill>
              </a:rPr>
              <a:t>muito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alho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frito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batas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portuguesas</a:t>
            </a:r>
            <a:r>
              <a:rPr lang="en-US" sz="2400" dirty="0">
                <a:solidFill>
                  <a:schemeClr val="bg1"/>
                </a:solidFill>
              </a:rPr>
              <a:t>, arroz e farofa. Este </a:t>
            </a:r>
            <a:r>
              <a:rPr lang="en-US" sz="2400" dirty="0" err="1">
                <a:solidFill>
                  <a:schemeClr val="bg1"/>
                </a:solidFill>
              </a:rPr>
              <a:t>prato</a:t>
            </a:r>
            <a:r>
              <a:rPr lang="en-US" sz="2400" dirty="0">
                <a:solidFill>
                  <a:schemeClr val="bg1"/>
                </a:solidFill>
              </a:rPr>
              <a:t> era </a:t>
            </a:r>
            <a:r>
              <a:rPr lang="en-US" sz="2400" dirty="0" err="1">
                <a:solidFill>
                  <a:schemeClr val="bg1"/>
                </a:solidFill>
              </a:rPr>
              <a:t>uma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homenagem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ao</a:t>
            </a:r>
            <a:r>
              <a:rPr lang="en-US" sz="2400" dirty="0">
                <a:solidFill>
                  <a:schemeClr val="bg1"/>
                </a:solidFill>
              </a:rPr>
              <a:t> politico Osvaldo </a:t>
            </a:r>
            <a:r>
              <a:rPr lang="en-US" sz="2400" dirty="0" err="1">
                <a:solidFill>
                  <a:schemeClr val="bg1"/>
                </a:solidFill>
              </a:rPr>
              <a:t>Aranha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1327D81-BD25-4532-8251-56496C559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93" y="4529403"/>
            <a:ext cx="3148853" cy="20845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1076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9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91B24-1C1A-4ACD-A2B7-F766B5995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6992"/>
            <a:ext cx="6705600" cy="1664573"/>
          </a:xfrm>
        </p:spPr>
        <p:txBody>
          <a:bodyPr>
            <a:normAutofit/>
          </a:bodyPr>
          <a:lstStyle/>
          <a:p>
            <a:r>
              <a:rPr lang="en-US" dirty="0" err="1">
                <a:latin typeface="Montserrat SemiBold" pitchFamily="2" charset="0"/>
              </a:rPr>
              <a:t>Pratos</a:t>
            </a:r>
            <a:r>
              <a:rPr lang="en-US" dirty="0">
                <a:latin typeface="Montserrat SemiBold" pitchFamily="2" charset="0"/>
              </a:rPr>
              <a:t> </a:t>
            </a:r>
            <a:r>
              <a:rPr lang="en-US" dirty="0" err="1">
                <a:latin typeface="Montserrat SemiBold" pitchFamily="2" charset="0"/>
              </a:rPr>
              <a:t>típicos</a:t>
            </a:r>
            <a:br>
              <a:rPr lang="en-US" dirty="0">
                <a:latin typeface="Montserrat SemiBold" pitchFamily="2" charset="0"/>
              </a:rPr>
            </a:br>
            <a:r>
              <a:rPr lang="en-US" dirty="0">
                <a:latin typeface="Montserrat SemiBold" pitchFamily="2" charset="0"/>
              </a:rPr>
              <a:t>da </a:t>
            </a:r>
            <a:r>
              <a:rPr lang="en-US" dirty="0" err="1">
                <a:latin typeface="Montserrat SemiBold" pitchFamily="2" charset="0"/>
              </a:rPr>
              <a:t>região</a:t>
            </a:r>
            <a:r>
              <a:rPr lang="en-US" dirty="0">
                <a:latin typeface="Montserrat SemiBold" pitchFamily="2" charset="0"/>
              </a:rPr>
              <a:t> Sul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54E504-B82A-426E-AD00-0DE71993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1653"/>
            <a:ext cx="6705168" cy="3728613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5124" name="Picture 4" descr="Arroz Carreteiro">
            <a:extLst>
              <a:ext uri="{FF2B5EF4-FFF2-40B4-BE49-F238E27FC236}">
                <a16:creationId xmlns:a16="http://schemas.microsoft.com/office/drawing/2014/main" id="{914E855D-1F92-4A3D-BA8B-2B3D3B052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1" y="2397933"/>
            <a:ext cx="3684460" cy="20621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3F48171-B117-4839-9018-9E8A6DFE1F55}"/>
              </a:ext>
            </a:extLst>
          </p:cNvPr>
          <p:cNvSpPr/>
          <p:nvPr/>
        </p:nvSpPr>
        <p:spPr>
          <a:xfrm>
            <a:off x="4562475" y="2411651"/>
            <a:ext cx="6791325" cy="19793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50DD70D-CE84-4BC0-ACB0-8CB4A0A41BFD}"/>
              </a:ext>
            </a:extLst>
          </p:cNvPr>
          <p:cNvSpPr txBox="1"/>
          <p:nvPr/>
        </p:nvSpPr>
        <p:spPr>
          <a:xfrm>
            <a:off x="4559427" y="2386618"/>
            <a:ext cx="67943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   Arroz </a:t>
            </a:r>
            <a:r>
              <a:rPr lang="en-US" sz="2400" b="1" dirty="0" err="1">
                <a:solidFill>
                  <a:schemeClr val="bg1"/>
                </a:solidFill>
              </a:rPr>
              <a:t>carreteiro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400" dirty="0" err="1">
                <a:solidFill>
                  <a:schemeClr val="bg1"/>
                </a:solidFill>
              </a:rPr>
              <a:t>Nascido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nas</a:t>
            </a:r>
            <a:r>
              <a:rPr lang="en-US" sz="2400" dirty="0">
                <a:solidFill>
                  <a:schemeClr val="bg1"/>
                </a:solidFill>
              </a:rPr>
              <a:t> Pampas </a:t>
            </a:r>
            <a:r>
              <a:rPr lang="en-US" sz="2400" dirty="0" err="1">
                <a:solidFill>
                  <a:schemeClr val="bg1"/>
                </a:solidFill>
              </a:rPr>
              <a:t>Gaúchos</a:t>
            </a:r>
            <a:r>
              <a:rPr lang="en-US" sz="2400" dirty="0">
                <a:solidFill>
                  <a:schemeClr val="bg1"/>
                </a:solidFill>
              </a:rPr>
              <a:t>, o Arroz </a:t>
            </a:r>
            <a:r>
              <a:rPr lang="en-US" sz="2400" dirty="0" err="1">
                <a:solidFill>
                  <a:schemeClr val="bg1"/>
                </a:solidFill>
              </a:rPr>
              <a:t>Carreteiro</a:t>
            </a:r>
            <a:r>
              <a:rPr lang="en-US" sz="2400" dirty="0">
                <a:solidFill>
                  <a:schemeClr val="bg1"/>
                </a:solidFill>
              </a:rPr>
              <a:t> é um </a:t>
            </a:r>
            <a:r>
              <a:rPr lang="en-US" sz="2400" dirty="0" err="1">
                <a:solidFill>
                  <a:schemeClr val="bg1"/>
                </a:solidFill>
              </a:rPr>
              <a:t>prato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tradicional</a:t>
            </a:r>
            <a:r>
              <a:rPr lang="en-US" sz="2400" dirty="0">
                <a:solidFill>
                  <a:schemeClr val="bg1"/>
                </a:solidFill>
              </a:rPr>
              <a:t> que se </a:t>
            </a:r>
            <a:r>
              <a:rPr lang="en-US" sz="2400" dirty="0" err="1">
                <a:solidFill>
                  <a:schemeClr val="bg1"/>
                </a:solidFill>
              </a:rPr>
              <a:t>espalhou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todo</a:t>
            </a:r>
            <a:r>
              <a:rPr lang="en-US" sz="2400" dirty="0">
                <a:solidFill>
                  <a:schemeClr val="bg1"/>
                </a:solidFill>
              </a:rPr>
              <a:t> o </a:t>
            </a:r>
            <a:r>
              <a:rPr lang="en-US" sz="2400" dirty="0" err="1">
                <a:solidFill>
                  <a:schemeClr val="bg1"/>
                </a:solidFill>
              </a:rPr>
              <a:t>país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ganhando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novas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versões</a:t>
            </a:r>
            <a:r>
              <a:rPr lang="en-US" sz="2400" dirty="0">
                <a:solidFill>
                  <a:schemeClr val="bg1"/>
                </a:solidFill>
              </a:rPr>
              <a:t> e </a:t>
            </a:r>
            <a:r>
              <a:rPr lang="en-US" sz="2400" dirty="0" err="1">
                <a:solidFill>
                  <a:schemeClr val="bg1"/>
                </a:solidFill>
              </a:rPr>
              <a:t>diferentes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temperos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US" sz="2400" b="1" dirty="0">
              <a:solidFill>
                <a:schemeClr val="bg1"/>
              </a:solidFill>
            </a:endParaRPr>
          </a:p>
        </p:txBody>
      </p:sp>
      <p:pic>
        <p:nvPicPr>
          <p:cNvPr id="5126" name="Picture 6" descr="Galeto Di Paolo">
            <a:extLst>
              <a:ext uri="{FF2B5EF4-FFF2-40B4-BE49-F238E27FC236}">
                <a16:creationId xmlns:a16="http://schemas.microsoft.com/office/drawing/2014/main" id="{7F54B4BE-549E-4197-88F1-0F0A4268D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414" y="4638182"/>
            <a:ext cx="4647430" cy="19730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805A809-FD75-4BFC-A353-403570C16DFA}"/>
              </a:ext>
            </a:extLst>
          </p:cNvPr>
          <p:cNvSpPr/>
          <p:nvPr/>
        </p:nvSpPr>
        <p:spPr>
          <a:xfrm>
            <a:off x="835152" y="4638182"/>
            <a:ext cx="5700119" cy="1938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BFA2712-6A23-43FF-BD89-4E437D4C346E}"/>
              </a:ext>
            </a:extLst>
          </p:cNvPr>
          <p:cNvSpPr txBox="1"/>
          <p:nvPr/>
        </p:nvSpPr>
        <p:spPr>
          <a:xfrm>
            <a:off x="796370" y="4682349"/>
            <a:ext cx="570011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bg1"/>
                </a:solidFill>
              </a:rPr>
              <a:t>   </a:t>
            </a:r>
            <a:r>
              <a:rPr lang="en-US" sz="2400" b="1" dirty="0" err="1">
                <a:solidFill>
                  <a:schemeClr val="bg1"/>
                </a:solidFill>
              </a:rPr>
              <a:t>Capeletti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</a:rPr>
              <a:t>De </a:t>
            </a:r>
            <a:r>
              <a:rPr lang="en-US" sz="2000" dirty="0" err="1">
                <a:solidFill>
                  <a:schemeClr val="bg1"/>
                </a:solidFill>
              </a:rPr>
              <a:t>origem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italiana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este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tipo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massa</a:t>
            </a:r>
            <a:r>
              <a:rPr lang="en-US" sz="2000" dirty="0">
                <a:solidFill>
                  <a:schemeClr val="bg1"/>
                </a:solidFill>
              </a:rPr>
              <a:t>, é </a:t>
            </a:r>
            <a:r>
              <a:rPr lang="en-US" sz="2000" dirty="0" err="1">
                <a:solidFill>
                  <a:schemeClr val="bg1"/>
                </a:solidFill>
              </a:rPr>
              <a:t>uma</a:t>
            </a:r>
            <a:r>
              <a:rPr lang="en-US" sz="2000" dirty="0">
                <a:solidFill>
                  <a:schemeClr val="bg1"/>
                </a:solidFill>
              </a:rPr>
              <a:t> das </a:t>
            </a:r>
            <a:r>
              <a:rPr lang="en-US" sz="2000" dirty="0" err="1">
                <a:solidFill>
                  <a:schemeClr val="bg1"/>
                </a:solidFill>
              </a:rPr>
              <a:t>opções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mais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pedidas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quem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visita</a:t>
            </a:r>
            <a:r>
              <a:rPr lang="en-US" sz="2000" dirty="0">
                <a:solidFill>
                  <a:schemeClr val="bg1"/>
                </a:solidFill>
              </a:rPr>
              <a:t> um </a:t>
            </a:r>
            <a:r>
              <a:rPr lang="en-US" sz="2000" dirty="0" err="1">
                <a:solidFill>
                  <a:schemeClr val="bg1"/>
                </a:solidFill>
              </a:rPr>
              <a:t>restaurante</a:t>
            </a:r>
            <a:r>
              <a:rPr lang="en-US" sz="2000" dirty="0">
                <a:solidFill>
                  <a:schemeClr val="bg1"/>
                </a:solidFill>
              </a:rPr>
              <a:t> gaucho, pois a </a:t>
            </a:r>
            <a:r>
              <a:rPr lang="en-US" sz="2000" dirty="0" err="1">
                <a:solidFill>
                  <a:schemeClr val="bg1"/>
                </a:solidFill>
              </a:rPr>
              <a:t>influência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italiana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trouxe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consigo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inspiração</a:t>
            </a:r>
            <a:r>
              <a:rPr lang="en-US" sz="2000" dirty="0">
                <a:solidFill>
                  <a:schemeClr val="bg1"/>
                </a:solidFill>
              </a:rPr>
              <a:t> que o </a:t>
            </a:r>
            <a:r>
              <a:rPr lang="en-US" sz="2000" dirty="0" err="1">
                <a:solidFill>
                  <a:schemeClr val="bg1"/>
                </a:solidFill>
              </a:rPr>
              <a:t>brasileiro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precisava</a:t>
            </a:r>
            <a:r>
              <a:rPr lang="en-US" sz="2000" dirty="0">
                <a:solidFill>
                  <a:schemeClr val="bg1"/>
                </a:solidFill>
              </a:rPr>
              <a:t> para </a:t>
            </a:r>
            <a:r>
              <a:rPr lang="en-US" sz="2000" dirty="0" err="1">
                <a:solidFill>
                  <a:schemeClr val="bg1"/>
                </a:solidFill>
              </a:rPr>
              <a:t>temperar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ainda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mais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prato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44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10F5E-2B3F-49B5-8B83-A42ACE45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Montserrat SemiBold" pitchFamily="2" charset="0"/>
              </a:rPr>
              <a:t>Considerações</a:t>
            </a:r>
            <a:r>
              <a:rPr lang="en-US" dirty="0">
                <a:latin typeface="Montserrat SemiBold" pitchFamily="2" charset="0"/>
              </a:rPr>
              <a:t> </a:t>
            </a:r>
            <a:r>
              <a:rPr lang="en-US" dirty="0" err="1">
                <a:latin typeface="Montserrat SemiBold" pitchFamily="2" charset="0"/>
              </a:rPr>
              <a:t>finais</a:t>
            </a:r>
            <a:endParaRPr lang="en-US" dirty="0">
              <a:latin typeface="Montserrat SemiBold" pitchFamily="2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0C299A-533E-4E69-BF7C-F1FF6E2D6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 err="1"/>
              <a:t>Agradeço</a:t>
            </a:r>
            <a:r>
              <a:rPr lang="en-US" sz="3600" dirty="0"/>
              <a:t> a </a:t>
            </a:r>
            <a:r>
              <a:rPr lang="en-US" sz="3600" dirty="0" err="1"/>
              <a:t>todos</a:t>
            </a:r>
            <a:r>
              <a:rPr lang="en-US" sz="3600" dirty="0"/>
              <a:t> </a:t>
            </a:r>
            <a:r>
              <a:rPr lang="en-US" sz="3600" dirty="0" err="1"/>
              <a:t>por</a:t>
            </a:r>
            <a:r>
              <a:rPr lang="en-US" sz="3600" dirty="0"/>
              <a:t> </a:t>
            </a:r>
            <a:r>
              <a:rPr lang="en-US" sz="3600" dirty="0" err="1"/>
              <a:t>terem</a:t>
            </a:r>
            <a:r>
              <a:rPr lang="en-US" sz="3600" dirty="0"/>
              <a:t> </a:t>
            </a:r>
            <a:r>
              <a:rPr lang="en-US" sz="3600" dirty="0" err="1"/>
              <a:t>assistido</a:t>
            </a:r>
            <a:r>
              <a:rPr lang="en-US" sz="3600" dirty="0"/>
              <a:t> a </a:t>
            </a:r>
            <a:r>
              <a:rPr lang="en-US" sz="3600" dirty="0" err="1"/>
              <a:t>apresentação</a:t>
            </a:r>
            <a:r>
              <a:rPr lang="en-US" sz="3600" dirty="0"/>
              <a:t> do </a:t>
            </a:r>
            <a:r>
              <a:rPr lang="en-US" sz="3600" dirty="0" err="1"/>
              <a:t>nosso</a:t>
            </a:r>
            <a:r>
              <a:rPr lang="en-US" sz="3600" dirty="0"/>
              <a:t> </a:t>
            </a:r>
            <a:r>
              <a:rPr lang="en-US" sz="3600" dirty="0" err="1"/>
              <a:t>trabalho</a:t>
            </a:r>
            <a:r>
              <a:rPr lang="en-US" sz="3600" dirty="0"/>
              <a:t>, </a:t>
            </a:r>
            <a:r>
              <a:rPr lang="en-US" sz="3600" dirty="0" err="1"/>
              <a:t>desejo</a:t>
            </a:r>
            <a:r>
              <a:rPr lang="en-US" sz="3600" dirty="0"/>
              <a:t> a </a:t>
            </a:r>
            <a:r>
              <a:rPr lang="en-US" sz="3600" dirty="0" err="1"/>
              <a:t>todos</a:t>
            </a:r>
            <a:r>
              <a:rPr lang="en-US" sz="3600" dirty="0"/>
              <a:t> um </a:t>
            </a:r>
            <a:r>
              <a:rPr lang="en-US" sz="3600" dirty="0" err="1"/>
              <a:t>bom</a:t>
            </a:r>
            <a:r>
              <a:rPr lang="en-US" sz="3600" dirty="0"/>
              <a:t> dia.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000" dirty="0" err="1"/>
              <a:t>Créditos</a:t>
            </a:r>
            <a:r>
              <a:rPr lang="en-US" sz="1000" dirty="0"/>
              <a:t>: </a:t>
            </a:r>
            <a:r>
              <a:rPr lang="en-US" sz="1000" dirty="0">
                <a:hlinkClick r:id="rId2"/>
              </a:rPr>
              <a:t>https://todepassagem.clickbus.com.br/turismo/sabores-do-brasil/comidas-tipicas-do-norte-do-brasil/</a:t>
            </a:r>
            <a:r>
              <a:rPr lang="en-US" sz="1000" dirty="0"/>
              <a:t>, </a:t>
            </a:r>
            <a:r>
              <a:rPr lang="en-US" sz="1000" dirty="0">
                <a:hlinkClick r:id="rId3"/>
              </a:rPr>
              <a:t>https://www.costadosauipe.com.br/blog/a-comida-tipica-do-nordeste-vai-te-conquistar-conheca-5-pratos-tradicionais</a:t>
            </a:r>
            <a:r>
              <a:rPr lang="en-US" sz="1000" dirty="0"/>
              <a:t>, </a:t>
            </a:r>
            <a:r>
              <a:rPr lang="en-US" sz="1000" dirty="0">
                <a:hlinkClick r:id="rId4"/>
              </a:rPr>
              <a:t>https://ibis.accor.com/pt-br/editorial/article/comidas-tipicas-centro-oeste-5-7942-v5914.shtml</a:t>
            </a:r>
            <a:r>
              <a:rPr lang="en-US" sz="1000" dirty="0"/>
              <a:t>, </a:t>
            </a:r>
            <a:r>
              <a:rPr lang="en-US" sz="1000" dirty="0">
                <a:hlinkClick r:id="rId5"/>
              </a:rPr>
              <a:t>https://malaprontagramado.com.br/comidas-tipicas-da-regiao-sul/</a:t>
            </a:r>
            <a:r>
              <a:rPr lang="en-US" sz="1000" dirty="0"/>
              <a:t>, </a:t>
            </a:r>
            <a:r>
              <a:rPr lang="en-US" sz="1000" dirty="0">
                <a:hlinkClick r:id="rId6"/>
              </a:rPr>
              <a:t>https://viajala.com.br/blog/</a:t>
            </a:r>
            <a:r>
              <a:rPr lang="en-US" sz="1000" dirty="0" err="1">
                <a:hlinkClick r:id="rId6"/>
              </a:rPr>
              <a:t>pratos</a:t>
            </a:r>
            <a:r>
              <a:rPr lang="en-US" sz="1000" dirty="0">
                <a:hlinkClick r:id="rId6"/>
              </a:rPr>
              <a:t>-</a:t>
            </a:r>
            <a:r>
              <a:rPr lang="en-US" sz="1000" dirty="0" err="1">
                <a:hlinkClick r:id="rId6"/>
              </a:rPr>
              <a:t>típicos</a:t>
            </a:r>
            <a:r>
              <a:rPr lang="en-US" sz="1000" dirty="0">
                <a:hlinkClick r:id="rId6"/>
              </a:rPr>
              <a:t>-do-</a:t>
            </a:r>
            <a:r>
              <a:rPr lang="en-US" sz="1000" dirty="0" err="1">
                <a:hlinkClick r:id="rId6"/>
              </a:rPr>
              <a:t>sudeste</a:t>
            </a:r>
            <a:r>
              <a:rPr lang="en-US" sz="1000" dirty="0">
                <a:hlinkClick r:id="rId6"/>
              </a:rPr>
              <a:t>-</a:t>
            </a:r>
            <a:r>
              <a:rPr lang="en-US" sz="1000" dirty="0" err="1">
                <a:hlinkClick r:id="rId6"/>
              </a:rPr>
              <a:t>brasileiro</a:t>
            </a:r>
            <a:r>
              <a:rPr 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8632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620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Montserrat ExtraBold</vt:lpstr>
      <vt:lpstr>Montserrat SemiBold</vt:lpstr>
      <vt:lpstr>Poppins Light</vt:lpstr>
      <vt:lpstr>Tema do Office</vt:lpstr>
      <vt:lpstr>Culinaria , cultura e qualidade alimentar</vt:lpstr>
      <vt:lpstr>O que exatamente é culinária?</vt:lpstr>
      <vt:lpstr>Culinária brasileira</vt:lpstr>
      <vt:lpstr>Pratos típicos  da região Norte</vt:lpstr>
      <vt:lpstr>Pratos típicos da região Nordeste</vt:lpstr>
      <vt:lpstr>Pratos típicos da região centro-oeste</vt:lpstr>
      <vt:lpstr>Pratos típicos da região Sudeste</vt:lpstr>
      <vt:lpstr>Pratos típicos da região Sul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Culinaria , cultura e qualidade alimentar</dc:title>
  <dc:creator>LUIZ OTAVIO DE MORAIS</dc:creator>
  <cp:lastModifiedBy>LUIZ OTAVIO DE MORAIS</cp:lastModifiedBy>
  <cp:revision>4</cp:revision>
  <dcterms:created xsi:type="dcterms:W3CDTF">2022-04-13T19:56:37Z</dcterms:created>
  <dcterms:modified xsi:type="dcterms:W3CDTF">2022-04-15T19:15:14Z</dcterms:modified>
</cp:coreProperties>
</file>